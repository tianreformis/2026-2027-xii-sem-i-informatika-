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4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4.png"/><Relationship Id="rId7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8237" y="1574601"/>
            <a:ext cx="2295525" cy="428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0650" y="3896617"/>
            <a:ext cx="1790700" cy="110088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267450"/>
            <a:ext cx="11049000" cy="3524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288976"/>
            <a:ext cx="9601200" cy="670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F8FAFC"/>
                </a:solidFill>
                <a:latin typeface="Poppins"/>
              </a:rPr>
              <a:t>Pengantar </a:t>
            </a:r>
            <a:r>
              <a:rPr b="1" sz="4800" i="0" u="none">
                <a:solidFill>
                  <a:srgbClr val="38BDF8"/>
                </a:solidFill>
                <a:latin typeface="Poppins"/>
              </a:rPr>
              <a:t>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62462" y="3149947"/>
            <a:ext cx="3267075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94A3B8"/>
                </a:solidFill>
                <a:latin typeface="Poppins Light"/>
              </a:rPr>
              <a:t>&amp; Instalasi Python + OpenCV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6419850"/>
            <a:ext cx="3095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 Medium"/>
              </a:rPr>
              <a:t>KRISTIAN REFORMIS ALL RIGHTS RESERVED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500" y="6419850"/>
            <a:ext cx="381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"/>
              </a:rPr>
              <a:t>Slide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00650" y="4096642"/>
            <a:ext cx="17907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Poppins"/>
              </a:rPr>
              <a:t>Guru Pengampu: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0650" y="4370933"/>
            <a:ext cx="17907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F8FAFC"/>
                </a:solidFill>
                <a:latin typeface="Poppins Medium"/>
              </a:rPr>
              <a:t>Kristian Reformis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00650" y="4753719"/>
            <a:ext cx="179070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64748B"/>
                </a:solidFill>
                <a:latin typeface="Poppins"/>
              </a:rPr>
              <a:t>Informatika Kelas 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267450"/>
            <a:ext cx="11049000" cy="352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40893" y="2439441"/>
            <a:ext cx="171021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F8FAFC"/>
                </a:solidFill>
                <a:latin typeface="Poppins"/>
              </a:rPr>
              <a:t>Konsep </a:t>
            </a:r>
            <a:r>
              <a:rPr b="1" sz="1800" i="0" u="none">
                <a:solidFill>
                  <a:srgbClr val="38BDF8"/>
                </a:solidFill>
                <a:latin typeface="Poppins"/>
              </a:rPr>
              <a:t>Dasar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524500" y="3058566"/>
            <a:ext cx="1143000" cy="571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3401466"/>
            <a:ext cx="110490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94A3B8"/>
                </a:solidFill>
                <a:latin typeface="Poppins Light"/>
              </a:rPr>
              <a:t>Memahami apa itu Machine Learning dan bagaimana mesin bisa "belajar" dari sekumpulan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6419850"/>
            <a:ext cx="3095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 Medium"/>
              </a:rPr>
              <a:t>KRISTIAN REFORMIS ALL RIGHTS RESERVED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19850"/>
            <a:ext cx="4191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"/>
              </a:rP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857375"/>
            <a:ext cx="5238750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6267450"/>
            <a:ext cx="11049000" cy="352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6419850"/>
            <a:ext cx="3095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 Medium"/>
              </a:rPr>
              <a:t>KRISTIAN REFORMIS 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19850"/>
            <a:ext cx="4191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"/>
              </a:rPr>
              <a:t>Slide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857375"/>
            <a:ext cx="523875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oppins"/>
              </a:rPr>
              <a:t>Machine Learning (ML) adalah cabang dari Kecerdasan Buatan (AI) yang memberikan sistem kemampuan untuk belajar secara otomatis dari pengalaman tanpa diprogram secara eksplisit.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267075"/>
            <a:ext cx="4953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oppins"/>
              </a:rPr>
              <a:t>Alih-alih menulis aturan ketat (If-Else), kita memberikan mesin </a:t>
            </a:r>
            <a:r>
              <a:rPr b="1" sz="1500" i="0" u="none">
                <a:solidFill>
                  <a:srgbClr val="CBD5E1"/>
                </a:solidFill>
                <a:latin typeface="Poppins"/>
              </a:rPr>
              <a:t>banyak data</a:t>
            </a:r>
            <a:r>
              <a:rPr b="0" sz="1500" i="0" u="none">
                <a:solidFill>
                  <a:srgbClr val="CBD5E1"/>
                </a:solidFill>
                <a:latin typeface="Poppi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067175"/>
            <a:ext cx="4953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oppins"/>
              </a:rPr>
              <a:t>Mesin menggunakan algoritma untuk mengenali </a:t>
            </a:r>
            <a:r>
              <a:rPr b="1" sz="1500" i="0" u="none">
                <a:solidFill>
                  <a:srgbClr val="CBD5E1"/>
                </a:solidFill>
                <a:latin typeface="Poppins"/>
              </a:rPr>
              <a:t>pola</a:t>
            </a:r>
            <a:r>
              <a:rPr b="0" sz="1500" i="0" u="none">
                <a:solidFill>
                  <a:srgbClr val="CBD5E1"/>
                </a:solidFill>
                <a:latin typeface="Poppins"/>
              </a:rPr>
              <a:t> di dalam data tersebut.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867275"/>
            <a:ext cx="4953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oppins"/>
              </a:rPr>
              <a:t>Semakin banyak data yang dipelajari, semakin akurat prediksi atau keputusan yang dihasilkan.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275" y="1866900"/>
            <a:ext cx="5219700" cy="37909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b="1" sz="3750" i="0" u="none">
                <a:solidFill>
                  <a:srgbClr val="F8FAFC"/>
                </a:solidFill>
                <a:latin typeface="Poppins"/>
              </a:rPr>
              <a:t>Apa itu </a:t>
            </a:r>
            <a:r>
              <a:rPr b="1" sz="3750" i="0" u="none">
                <a:solidFill>
                  <a:srgbClr val="38BDF8"/>
                </a:solidFill>
                <a:latin typeface="Poppins"/>
              </a:rPr>
              <a:t>Machine Learning?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286125"/>
            <a:ext cx="9525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086225"/>
            <a:ext cx="9525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886325"/>
            <a:ext cx="952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09700"/>
            <a:ext cx="3492549" cy="4705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1409700"/>
            <a:ext cx="3492549" cy="4705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1409700"/>
            <a:ext cx="3492549" cy="4705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6267450"/>
            <a:ext cx="11049000" cy="3524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6419850"/>
            <a:ext cx="3095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 Medium"/>
              </a:rPr>
              <a:t>KRISTIAN REFORMIS ALL RIGHTS RESERVED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2350" y="6419850"/>
            <a:ext cx="4381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"/>
              </a:rPr>
              <a:t>Slide 4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1752600"/>
            <a:ext cx="2901999" cy="723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6775" y="2714625"/>
            <a:ext cx="3047099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E2E8F0"/>
                </a:solidFill>
                <a:latin typeface="Poppins SemiBold"/>
              </a:rPr>
              <a:t>Supervised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3333750"/>
            <a:ext cx="2901999" cy="243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oppins"/>
              </a:rPr>
              <a:t>Belajar dengan "guru". Model dilatih menggunakan data yang sudah memiliki label (contoh: gambar kucing diberi label 'Kucing'). Mesin memprediksi output dari input baru berdasarkan pelajaran ini.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1752600"/>
            <a:ext cx="2901999" cy="723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45074" y="2714625"/>
            <a:ext cx="3047099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E2E8F0"/>
                </a:solidFill>
                <a:latin typeface="Poppins SemiBold"/>
              </a:rPr>
              <a:t>Unsupervised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074" y="3333750"/>
            <a:ext cx="2901999" cy="243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oppins"/>
              </a:rPr>
              <a:t>Belajar tanpa "guru" atau tanpa label. Algoritma harus mencari sendiri struktur tersembunyi, mengelompokkan (clustering), atau menemukan pola dari data mentah.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3374" y="1752600"/>
            <a:ext cx="2901999" cy="723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23374" y="2714625"/>
            <a:ext cx="3047099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E2E8F0"/>
                </a:solidFill>
                <a:latin typeface="Poppins SemiBold"/>
              </a:rPr>
              <a:t>Reinforcement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3374" y="3333750"/>
            <a:ext cx="2901999" cy="213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oppins"/>
              </a:rPr>
              <a:t>Belajar melalui metode </a:t>
            </a:r>
            <a:r>
              <a:rPr b="0" sz="1500" i="1" u="none">
                <a:solidFill>
                  <a:srgbClr val="CBD5E1"/>
                </a:solidFill>
                <a:latin typeface="Poppins"/>
              </a:rPr>
              <a:t>Trial and Error</a:t>
            </a:r>
            <a:r>
              <a:rPr b="0" sz="1500" i="0" u="none">
                <a:solidFill>
                  <a:srgbClr val="CBD5E1"/>
                </a:solidFill>
                <a:latin typeface="Poppins"/>
              </a:rPr>
              <a:t>. Sebuah agen (program) berinteraksi dengan lingkungan dan menerima imbalan (reward) atau hukuman (penalty) atas keputusannya.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75" y="1857375"/>
            <a:ext cx="600075" cy="4762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5074" y="1857375"/>
            <a:ext cx="476250" cy="4762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3374" y="1857375"/>
            <a:ext cx="600075" cy="4762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71500" y="4572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b="1" sz="3750" i="0" u="none">
                <a:solidFill>
                  <a:srgbClr val="F8FAFC"/>
                </a:solidFill>
                <a:latin typeface="Poppins"/>
              </a:rPr>
              <a:t>Tiga Tipe </a:t>
            </a:r>
            <a:r>
              <a:rPr b="1" sz="3750" i="0" u="none">
                <a:solidFill>
                  <a:srgbClr val="38BDF8"/>
                </a:solidFill>
                <a:latin typeface="Poppins"/>
              </a:rPr>
              <a:t>Pembelajaran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267450"/>
            <a:ext cx="11049000" cy="352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55782" y="2439441"/>
            <a:ext cx="3480435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F8FAFC"/>
                </a:solidFill>
                <a:latin typeface="Poppins"/>
              </a:rPr>
              <a:t>Persiapan </a:t>
            </a:r>
            <a:r>
              <a:rPr b="1" sz="1800" i="0" u="none">
                <a:solidFill>
                  <a:srgbClr val="38BDF8"/>
                </a:solidFill>
                <a:latin typeface="Poppins"/>
              </a:rPr>
              <a:t>Lingkungan Kerja</a:t>
            </a:r>
          </a:p>
        </p:txBody>
      </p:sp>
      <p:sp>
        <p:nvSpPr>
          <p:cNvPr id="5" name="Rectangle 4"/>
          <p:cNvSpPr/>
          <p:nvPr/>
        </p:nvSpPr>
        <p:spPr>
          <a:xfrm>
            <a:off x="5524500" y="3058566"/>
            <a:ext cx="1143000" cy="571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3401466"/>
            <a:ext cx="110490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94A3B8"/>
                </a:solidFill>
                <a:latin typeface="Poppins Light"/>
              </a:rPr>
              <a:t>Langkah-langkah menyiapkan Python dan OpenCV di komputer untuk memulai pemrograman Computer Vision.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6419850"/>
            <a:ext cx="3095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 Medium"/>
              </a:rPr>
              <a:t>KRISTIAN REFORMIS ALL RIGHTS RESERVED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19850"/>
            <a:ext cx="4191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"/>
              </a:rP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95437"/>
            <a:ext cx="5334000" cy="43338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595437"/>
            <a:ext cx="5334000" cy="4333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7025" y="3484215"/>
            <a:ext cx="4552950" cy="952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6267450"/>
            <a:ext cx="11049000" cy="3524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6419850"/>
            <a:ext cx="3095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 Medium"/>
              </a:rPr>
              <a:t>KRISTIAN REFORMIS ALL RIGHTS RESERVED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91875" y="6419850"/>
            <a:ext cx="428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"/>
              </a:rPr>
              <a:t>Slide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1985962"/>
            <a:ext cx="4780597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F8FAFC"/>
                </a:solidFill>
                <a:latin typeface="Poppins SemiBold"/>
              </a:rPr>
              <a:t>Langkah-langkah: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25" y="2535584"/>
            <a:ext cx="4780597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F8FAFC"/>
                </a:solidFill>
                <a:latin typeface="Poppins SemiBold"/>
              </a:rPr>
              <a:t>Verifikasi Instalasi (Terminal):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3097559"/>
            <a:ext cx="45529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oppins"/>
              </a:rPr>
              <a:t>Buka Command Prompt (CMD) dan ketik: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4531965"/>
            <a:ext cx="45529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Poppins"/>
              </a:rPr>
              <a:t>*PIP adalah program manajer paket bawaan Python untuk mengunduh pustaka (library) tambahan.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7775" y="2643187"/>
            <a:ext cx="42672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oppins"/>
              </a:rPr>
              <a:t>Kunjungi situs resmi </a:t>
            </a:r>
            <a:r>
              <a:rPr b="1" sz="1500" i="0" u="none">
                <a:solidFill>
                  <a:srgbClr val="CBD5E1"/>
                </a:solidFill>
                <a:latin typeface="Poppins"/>
              </a:rPr>
              <a:t>python.org</a:t>
            </a:r>
            <a:r>
              <a:rPr b="0" sz="1500" i="0" u="none">
                <a:solidFill>
                  <a:srgbClr val="CBD5E1"/>
                </a:solidFill>
                <a:latin typeface="Poppins"/>
              </a:rPr>
              <a:t> dan unduh versi stabil terbaru (Windows/Mac).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7775" y="3443287"/>
            <a:ext cx="4267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oppins"/>
              </a:rPr>
              <a:t>Jalankan file installer yang telah diunduh.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7775" y="3938587"/>
            <a:ext cx="4267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38BDF8"/>
                </a:solidFill>
                <a:latin typeface="Poppins"/>
              </a:rPr>
              <a:t>Penting:</a:t>
            </a:r>
            <a:r>
              <a:rPr b="0" sz="1500" i="0" u="none">
                <a:solidFill>
                  <a:srgbClr val="CBD5E1"/>
                </a:solidFill>
                <a:latin typeface="Poppins"/>
              </a:rPr>
              <a:t> Centang kotak </a:t>
            </a:r>
            <a:r>
              <a:rPr b="0" sz="1500" i="1" u="none">
                <a:solidFill>
                  <a:srgbClr val="CBD5E1"/>
                </a:solidFill>
                <a:latin typeface="Poppins"/>
              </a:rPr>
              <a:t>"Add Python to PATH"</a:t>
            </a:r>
            <a:r>
              <a:rPr b="0" sz="1500" i="0" u="none">
                <a:solidFill>
                  <a:srgbClr val="CBD5E1"/>
                </a:solidFill>
                <a:latin typeface="Poppins"/>
              </a:rPr>
              <a:t> di bagian bawah layar sebelum mengklik Install Now.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7775" y="5043487"/>
            <a:ext cx="4267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oppins"/>
              </a:rPr>
              <a:t>Selesaikan instalasi.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4675" y="3741390"/>
            <a:ext cx="95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8C379"/>
                </a:solidFill>
                <a:latin typeface="Fira Code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5175" y="3741390"/>
            <a:ext cx="571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1AFEF"/>
                </a:solidFill>
                <a:latin typeface="Fira Code"/>
              </a:rPr>
              <a:t>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81925" y="3741390"/>
            <a:ext cx="857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19A66"/>
                </a:solidFill>
                <a:latin typeface="Fira Code"/>
              </a:rPr>
              <a:t>--version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4425" y="3741390"/>
            <a:ext cx="1238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5C6370"/>
                </a:solidFill>
                <a:latin typeface="Fira Code"/>
              </a:rPr>
              <a:t>Python 3.12.x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67925" y="3741390"/>
            <a:ext cx="95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8C379"/>
                </a:solidFill>
                <a:latin typeface="Fira Code"/>
              </a:rPr>
              <a:t>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58425" y="3741390"/>
            <a:ext cx="285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1AFEF"/>
                </a:solidFill>
                <a:latin typeface="Fira Code"/>
              </a:rPr>
              <a:t>pip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4675" y="3741390"/>
            <a:ext cx="39052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19A66"/>
                </a:solidFill>
                <a:latin typeface="Fira Code"/>
              </a:rPr>
              <a:t>--version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6675" y="3969990"/>
            <a:ext cx="2952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5C6370"/>
                </a:solidFill>
                <a:latin typeface="Fira Code"/>
              </a:rPr>
              <a:t>pip 24.x from ... (python 3.12)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b="1" sz="3750" i="0" u="none">
                <a:solidFill>
                  <a:srgbClr val="F8FAFC"/>
                </a:solidFill>
                <a:latin typeface="Poppins"/>
              </a:rPr>
              <a:t>1. Instalasi </a:t>
            </a:r>
            <a:r>
              <a:rPr b="1" sz="3750" i="0" u="none">
                <a:solidFill>
                  <a:srgbClr val="38BDF8"/>
                </a:solidFill>
                <a:latin typeface="Poppins"/>
              </a:rPr>
              <a:t>Python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025" y="2662237"/>
            <a:ext cx="95250" cy="2000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025" y="3462337"/>
            <a:ext cx="95250" cy="2000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025" y="3957637"/>
            <a:ext cx="95250" cy="2000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025" y="5062537"/>
            <a:ext cx="952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43037"/>
            <a:ext cx="5334000" cy="4638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443037"/>
            <a:ext cx="5334000" cy="4638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267450"/>
            <a:ext cx="11049000" cy="3524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6419850"/>
            <a:ext cx="3095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 Medium"/>
              </a:rPr>
              <a:t>KRISTIAN REFORMIS ALL RIGHTS RESERVED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91875" y="6419850"/>
            <a:ext cx="428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"/>
              </a:rPr>
              <a:t>Slide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2166937"/>
            <a:ext cx="4780597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F8FAFC"/>
                </a:solidFill>
                <a:latin typeface="Poppins SemiBold"/>
              </a:rPr>
              <a:t>Apa itu OpenCV?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2824162"/>
            <a:ext cx="455295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Poppins"/>
              </a:rPr>
              <a:t>OpenCV</a:t>
            </a:r>
            <a:r>
              <a:rPr b="0" sz="1500" i="0" u="none">
                <a:solidFill>
                  <a:srgbClr val="CBD5E1"/>
                </a:solidFill>
                <a:latin typeface="Poppins"/>
              </a:rPr>
              <a:t> (</a:t>
            </a:r>
            <a:r>
              <a:rPr b="0" sz="1500" i="1" u="none">
                <a:solidFill>
                  <a:srgbClr val="CBD5E1"/>
                </a:solidFill>
                <a:latin typeface="Poppins"/>
              </a:rPr>
              <a:t>Open Source Computer Vision Library</a:t>
            </a:r>
            <a:r>
              <a:rPr b="0" sz="1500" i="0" u="none">
                <a:solidFill>
                  <a:srgbClr val="CBD5E1"/>
                </a:solidFill>
                <a:latin typeface="Poppins"/>
              </a:rPr>
              <a:t>) adalah pustaka (library) perangkat lunak open-source untuk komputer visi dan pemelajaran mesin (Machine Learning).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4138612"/>
            <a:ext cx="455295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oppins"/>
              </a:rPr>
              <a:t>Awalnya dikembangkan oleh Intel, OpenCV menyediakan ratusan algoritma untuk memproses gambar dan video secara </a:t>
            </a:r>
            <a:r>
              <a:rPr b="0" sz="1500" i="1" u="none">
                <a:solidFill>
                  <a:srgbClr val="CBD5E1"/>
                </a:solidFill>
                <a:latin typeface="Poppins"/>
              </a:rPr>
              <a:t>real-time</a:t>
            </a:r>
            <a:r>
              <a:rPr b="0" sz="1500" i="0" u="none">
                <a:solidFill>
                  <a:srgbClr val="CBD5E1"/>
                </a:solidFill>
                <a:latin typeface="Poppin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1833562"/>
            <a:ext cx="4780597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F8FAFC"/>
                </a:solidFill>
                <a:latin typeface="Poppins SemiBold"/>
              </a:rPr>
              <a:t>Kemampuan Utama: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2775" y="2490787"/>
            <a:ext cx="42672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oppins"/>
              </a:rPr>
              <a:t>Deteksi Wajah (Face Detection) dan pengenalan ekspresi.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2775" y="3290887"/>
            <a:ext cx="42672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oppins"/>
              </a:rPr>
              <a:t>Pelacakan objek bergerak (Object Tracking) dari kamera.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2775" y="4090987"/>
            <a:ext cx="42672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oppins"/>
              </a:rPr>
              <a:t>Membaca dan memanipulasi warna pixel gambar.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2775" y="4891087"/>
            <a:ext cx="42672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oppins"/>
              </a:rPr>
              <a:t>Integrasi sempurna dengan model Machine Learning berbasis Python.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b="1" sz="3750" i="0" u="none">
                <a:solidFill>
                  <a:srgbClr val="F8FAFC"/>
                </a:solidFill>
                <a:latin typeface="Poppins"/>
              </a:rPr>
              <a:t>2. Mengenal </a:t>
            </a:r>
            <a:r>
              <a:rPr b="1" sz="3750" i="0" u="none">
                <a:solidFill>
                  <a:srgbClr val="38BDF8"/>
                </a:solidFill>
                <a:latin typeface="Poppins"/>
              </a:rPr>
              <a:t>OpenCV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7025" y="2509837"/>
            <a:ext cx="9525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7025" y="3309937"/>
            <a:ext cx="95250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7025" y="4110037"/>
            <a:ext cx="95250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7025" y="4910137"/>
            <a:ext cx="952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94582"/>
            <a:ext cx="5334000" cy="37355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894582"/>
            <a:ext cx="5334000" cy="37355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7025" y="3186112"/>
            <a:ext cx="4552950" cy="533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7025" y="4249042"/>
            <a:ext cx="4552950" cy="990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6267450"/>
            <a:ext cx="11049000" cy="3524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6419850"/>
            <a:ext cx="3095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 Medium"/>
              </a:rPr>
              <a:t>KRISTIAN REFORMIS ALL RIGHTS RESERVED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91875" y="6419850"/>
            <a:ext cx="428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"/>
              </a:rPr>
              <a:t>Slide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2471737"/>
            <a:ext cx="4780597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F8FAFC"/>
                </a:solidFill>
                <a:latin typeface="Poppins SemiBold"/>
              </a:rPr>
              <a:t>Menggunakan PIP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3128962"/>
            <a:ext cx="455295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oppins"/>
              </a:rPr>
              <a:t>Karena kita sudah menginstal Python dan PIP, instalasi OpenCV dapat dilakukan hanya dengan satu baris perintah di Command Prompt atau Terminal.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4443412"/>
            <a:ext cx="45529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oppins"/>
              </a:rPr>
              <a:t>Pastikan komputer terhubung ke internet saat menjalankan perintah instalasi ini.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7025" y="2285107"/>
            <a:ext cx="4780597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F8FAFC"/>
                </a:solidFill>
                <a:latin typeface="Poppins SemiBold"/>
              </a:rPr>
              <a:t>Command &amp; Tes Kode: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7025" y="2799457"/>
            <a:ext cx="45529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oppins"/>
              </a:rPr>
              <a:t>Ketik perintah ini di CMD: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7025" y="3862387"/>
            <a:ext cx="45529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oppins"/>
              </a:rPr>
              <a:t>Uji di file Python (test.py):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9425" y="3348037"/>
            <a:ext cx="95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8C379"/>
                </a:solidFill>
                <a:latin typeface="Fira Code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9925" y="3348037"/>
            <a:ext cx="285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1AFEF"/>
                </a:solidFill>
                <a:latin typeface="Fira Code"/>
              </a:rPr>
              <a:t>pip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0925" y="3348037"/>
            <a:ext cx="2000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19A66"/>
                </a:solidFill>
                <a:latin typeface="Fira Code"/>
              </a:rPr>
              <a:t>install opencv-python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9425" y="4410967"/>
            <a:ext cx="571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1AFEF"/>
                </a:solidFill>
                <a:latin typeface="Fira Code"/>
              </a:rPr>
              <a:t>import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6175" y="4410967"/>
            <a:ext cx="285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19A66"/>
                </a:solidFill>
                <a:latin typeface="Fira Code"/>
              </a:rPr>
              <a:t>cv2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77175" y="4410967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1AFEF"/>
                </a:solidFill>
                <a:latin typeface="Fira Code"/>
              </a:rPr>
              <a:t>print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8675" y="4410967"/>
            <a:ext cx="1428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19A66"/>
                </a:solidFill>
                <a:latin typeface="Fira Code"/>
              </a:rPr>
              <a:t>cv2.__version__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9425" y="4410967"/>
            <a:ext cx="381000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5C6370"/>
                </a:solidFill>
                <a:latin typeface="Fira Code"/>
              </a:rPr>
              <a:t># Jika muncul versi (misal: 4.9.0), instalasi sukses!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b="1" sz="3750" i="0" u="none">
                <a:solidFill>
                  <a:srgbClr val="F8FAFC"/>
                </a:solidFill>
                <a:latin typeface="Poppins"/>
              </a:rPr>
              <a:t>3. Instalasi </a:t>
            </a:r>
            <a:r>
              <a:rPr b="1" sz="3750" i="0" u="none">
                <a:solidFill>
                  <a:srgbClr val="38BDF8"/>
                </a:solidFill>
                <a:latin typeface="Poppins"/>
              </a:rPr>
              <a:t>OpenCV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267450"/>
            <a:ext cx="24860250" cy="352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5550693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b="1" sz="3750" i="0" u="none">
                <a:solidFill>
                  <a:srgbClr val="F8FAFC"/>
                </a:solidFill>
                <a:latin typeface="Poppins"/>
              </a:rPr>
              <a:t>Penerapan </a:t>
            </a:r>
            <a:r>
              <a:rPr b="1" sz="3750" i="0" u="none">
                <a:solidFill>
                  <a:srgbClr val="38BDF8"/>
                </a:solidFill>
                <a:latin typeface="Poppins"/>
              </a:rPr>
              <a:t>Computer Vision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6419850"/>
            <a:ext cx="3095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 Medium"/>
              </a:rPr>
              <a:t>KRISTIAN REFORMIS ALL RIGHTS RESERVED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431625" y="6419850"/>
            <a:ext cx="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"/>
              </a:rPr>
              <a:t>Slide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286000"/>
            <a:ext cx="52863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oppins"/>
              </a:rPr>
              <a:t>Gabungan antara </a:t>
            </a:r>
            <a:r>
              <a:rPr b="1" sz="1500" i="0" u="none">
                <a:solidFill>
                  <a:srgbClr val="CBD5E1"/>
                </a:solidFill>
                <a:latin typeface="Poppins"/>
              </a:rPr>
              <a:t>Machine Learning</a:t>
            </a:r>
            <a:r>
              <a:rPr b="0" sz="1500" i="0" u="none">
                <a:solidFill>
                  <a:srgbClr val="CBD5E1"/>
                </a:solidFill>
                <a:latin typeface="Poppins"/>
              </a:rPr>
              <a:t> dan </a:t>
            </a:r>
            <a:r>
              <a:rPr b="1" sz="1500" i="0" u="none">
                <a:solidFill>
                  <a:srgbClr val="CBD5E1"/>
                </a:solidFill>
                <a:latin typeface="Poppins"/>
              </a:rPr>
              <a:t>OpenCV</a:t>
            </a:r>
            <a:r>
              <a:rPr b="0" sz="1500" i="0" u="none">
                <a:solidFill>
                  <a:srgbClr val="CBD5E1"/>
                </a:solidFill>
                <a:latin typeface="Poppins"/>
              </a:rPr>
              <a:t> melahirkan teknologi yang memungkinkan komputer untuk "melihat".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775" y="3390900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Poppi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390900"/>
            <a:ext cx="5286375" cy="6096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Poppins"/>
              </a:rPr>
              <a:t>Sistem Medis:</a:t>
            </a:r>
            <a:r>
              <a:rPr b="0" sz="1500" i="0" u="none">
                <a:solidFill>
                  <a:srgbClr val="CBD5E1"/>
                </a:solidFill>
                <a:latin typeface="Poppins"/>
              </a:rPr>
              <a:t> AI menganalisis foto rontgen X-Ray untuk mendeteksi penyakit.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775" y="4000500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Poppi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000500"/>
            <a:ext cx="5286375" cy="9144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Poppins"/>
              </a:rPr>
              <a:t>Otomotif (Self-Driving):</a:t>
            </a:r>
            <a:r>
              <a:rPr b="0" sz="1500" i="0" u="none">
                <a:solidFill>
                  <a:srgbClr val="CBD5E1"/>
                </a:solidFill>
                <a:latin typeface="Poppins"/>
              </a:rPr>
              <a:t> Mobil otomatis mendeteksi garis jalan, rambu lalu lintas, dan pejalan kaki secara instan.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775" y="4914900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Poppi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914900"/>
            <a:ext cx="5286375" cy="6096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Poppins"/>
              </a:rPr>
              <a:t>Keamanan:</a:t>
            </a:r>
            <a:r>
              <a:rPr b="0" sz="1500" i="0" u="none">
                <a:solidFill>
                  <a:srgbClr val="CBD5E1"/>
                </a:solidFill>
                <a:latin typeface="Poppins"/>
              </a:rPr>
              <a:t> Sistem Face ID di smartphone atau pelacakan CCTV cerdas.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52750"/>
            <a:ext cx="5238750" cy="1152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6267450"/>
            <a:ext cx="11049000" cy="352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6419850"/>
            <a:ext cx="3095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 Medium"/>
              </a:rPr>
              <a:t>KRISTIAN REFORMIS 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3775" y="6419850"/>
            <a:ext cx="4667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"/>
              </a:rPr>
              <a:t>Slide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200525"/>
            <a:ext cx="52387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950" i="0" u="none">
                <a:solidFill>
                  <a:srgbClr val="E2E8F0"/>
                </a:solidFill>
                <a:latin typeface="Poppins SemiBold"/>
              </a:rPr>
              <a:t>Masa Depan Teknologi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1750" y="2302371"/>
            <a:ext cx="55006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F8FAFC"/>
                </a:solidFill>
                <a:latin typeface="Poppins SemiBold"/>
              </a:rPr>
              <a:t>Sinergi Pemrograman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1750" y="2902446"/>
            <a:ext cx="523875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Poppins"/>
              </a:rPr>
              <a:t>Python adalah fondasinya, Machine Learning adalah otaknya, dan OpenCV adalah "mata" bagi program kita.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750" y="4003178"/>
            <a:ext cx="523875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oppins"/>
              </a:rPr>
              <a:t>Dengan menguasai instalasi dasar dan konsep awal ini, Anda sudah mengambil langkah pertama untuk membuat AI buatan Anda sendiri yang mampu memahami dunia visual.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b="1" sz="3750" i="0" u="none">
                <a:solidFill>
                  <a:srgbClr val="F8FAFC"/>
                </a:solidFill>
                <a:latin typeface="Poppins"/>
              </a:rPr>
              <a:t>Kesimpulan </a:t>
            </a:r>
            <a:r>
              <a:rPr b="1" sz="3750" i="0" u="none">
                <a:solidFill>
                  <a:srgbClr val="38BDF8"/>
                </a:solidFill>
                <a:latin typeface="Poppins"/>
              </a:rPr>
              <a:t>Akhir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267450"/>
            <a:ext cx="11049000" cy="352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2436465"/>
            <a:ext cx="116014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F8FAFC"/>
                </a:solidFill>
                <a:latin typeface="Poppins"/>
              </a:rPr>
              <a:t>Siap untuk </a:t>
            </a:r>
            <a:r>
              <a:rPr b="1" sz="6000" i="0" u="none">
                <a:solidFill>
                  <a:srgbClr val="38BDF8"/>
                </a:solidFill>
                <a:latin typeface="Poppins"/>
              </a:rPr>
              <a:t>Coding?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769965"/>
            <a:ext cx="1104900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94A3B8"/>
                </a:solidFill>
                <a:latin typeface="Poppins Light"/>
              </a:rPr>
              <a:t>Ada pertanyaan tentang Machine Learning atau proses instalasi?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6419850"/>
            <a:ext cx="3095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 Medium"/>
              </a:rPr>
              <a:t>KRISTIAN REFORMIS ALL RIGHTS RESERVED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850"/>
            <a:ext cx="4191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oppins"/>
              </a:rP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883247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85658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85658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3179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66875" y="3026122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Poppins"/>
              </a:rPr>
              <a:t>https://png.pngtree.com/png-vector/20260727/ourlarge/pngtree-futuristic-3d-rendered-digital-human-brain-with-glowing-microchip-circuits-symbolizing-png-image_19846014.webp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346992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oppi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oppins"/>
              </a:rPr>
              <a:t>pngtree.com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15531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4008983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Poppins"/>
              </a:rPr>
              <a:t>https://boaxr.com/wp-content/uploads/2026/04/slot-cover-scaled.jpg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4254698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oppi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oppins"/>
              </a:rPr>
              <a:t>boaxr.com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b="1" sz="3750" i="0" u="none">
                <a:solidFill>
                  <a:srgbClr val="F8FAFC"/>
                </a:solidFill>
                <a:latin typeface="Poppins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