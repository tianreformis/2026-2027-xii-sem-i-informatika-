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237" y="1574601"/>
            <a:ext cx="2295525" cy="428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650" y="3896617"/>
            <a:ext cx="1790700" cy="110088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267450"/>
            <a:ext cx="11049000" cy="3524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90611" y="2288976"/>
            <a:ext cx="6210776" cy="670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Poppins"/>
              </a:rPr>
              <a:t>Pemrograman </a:t>
            </a:r>
            <a:r>
              <a:rPr b="1" sz="4800" i="0" u="none">
                <a:solidFill>
                  <a:srgbClr val="38BDF8"/>
                </a:solidFill>
                <a:latin typeface="Poppins"/>
              </a:rPr>
              <a:t>Lua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6075" y="3149947"/>
            <a:ext cx="641985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94A3B8"/>
                </a:solidFill>
                <a:latin typeface="Poppins Light"/>
              </a:rPr>
              <a:t>Bahasa Skrip Ringan, Cepat, dan Fleksibel (Embeddable)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6419850"/>
            <a:ext cx="309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 Medium"/>
              </a:rPr>
              <a:t>KRISTIAN REFORMIS ALL RIGHTS RESERVED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0" y="6419850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"/>
              </a:rPr>
              <a:t>Slide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0650" y="4096642"/>
            <a:ext cx="17907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oppins"/>
              </a:rPr>
              <a:t>Guru Pengampu: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0650" y="4370933"/>
            <a:ext cx="17907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F8FAFC"/>
                </a:solidFill>
                <a:latin typeface="Poppins Medium"/>
              </a:rPr>
              <a:t>Kristian Reformis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0650" y="4753719"/>
            <a:ext cx="17907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Poppins"/>
              </a:rPr>
              <a:t>Informatika Kelas XII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267450"/>
            <a:ext cx="11049000" cy="352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25828" y="2439441"/>
            <a:ext cx="2740342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8BDF8"/>
                </a:solidFill>
                <a:latin typeface="Poppins"/>
              </a:rPr>
              <a:t>Mengenal</a:t>
            </a:r>
            <a:r>
              <a:rPr b="1" sz="1800" i="0" u="none">
                <a:solidFill>
                  <a:srgbClr val="F8FAFC"/>
                </a:solidFill>
                <a:latin typeface="Poppins"/>
              </a:rPr>
              <a:t> Bahasa Lua</a:t>
            </a:r>
          </a:p>
        </p:txBody>
      </p:sp>
      <p:sp>
        <p:nvSpPr>
          <p:cNvPr id="5" name="Rectangle 4"/>
          <p:cNvSpPr/>
          <p:nvPr/>
        </p:nvSpPr>
        <p:spPr>
          <a:xfrm>
            <a:off x="5524500" y="3058566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3401466"/>
            <a:ext cx="11049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94A3B8"/>
                </a:solidFill>
                <a:latin typeface="Poppins Light"/>
              </a:rPr>
              <a:t>Apa itu Lua, sejarah singkat, dan mengapa bahasa ini sangat diminati oleh para developer di seluruh dunia?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419850"/>
            <a:ext cx="309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 Medium"/>
              </a:rPr>
              <a:t>KRISTIAN REFORMIS ALL RIGHTS RESERVED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850"/>
            <a:ext cx="4191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"/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857375"/>
            <a:ext cx="523875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267450"/>
            <a:ext cx="11049000" cy="352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6419850"/>
            <a:ext cx="309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 Medium"/>
              </a:rPr>
              <a:t>KRISTIAN REFORMIS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19850"/>
            <a:ext cx="4191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"/>
              </a:rPr>
              <a:t>Slide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009775"/>
            <a:ext cx="52387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Lua adalah bahasa pemrograman scripting yang dirancang agar ringan, efisien, dan mudah ditanamkan (</a:t>
            </a:r>
            <a:r>
              <a:rPr b="0" sz="1500" i="1" u="none">
                <a:solidFill>
                  <a:srgbClr val="CBD5E1"/>
                </a:solidFill>
                <a:latin typeface="Poppins"/>
              </a:rPr>
              <a:t>embeddable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) ke dalam aplikasi lain.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114675"/>
            <a:ext cx="4953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Diciptakan pada tahun </a:t>
            </a:r>
            <a:r>
              <a:rPr b="1" sz="1500" i="0" u="none">
                <a:solidFill>
                  <a:srgbClr val="CBD5E1"/>
                </a:solidFill>
                <a:latin typeface="Poppins"/>
              </a:rPr>
              <a:t>1993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 oleh tim di PUC-Rio, Brazil.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914775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Kata "Lua" berarti </a:t>
            </a:r>
            <a:r>
              <a:rPr b="1" sz="1500" i="0" u="none">
                <a:solidFill>
                  <a:srgbClr val="CBD5E1"/>
                </a:solidFill>
                <a:latin typeface="Poppins"/>
              </a:rPr>
              <a:t>"Bulan"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 dalam bahasa Portugis.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410075"/>
            <a:ext cx="4953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Ditulis menggunakan ANSI C, sehingga dapat berjalan di hampir semua sistem operasi dan platform keras.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1866900"/>
            <a:ext cx="5219700" cy="37909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F8FAFC"/>
                </a:solidFill>
                <a:latin typeface="Poppins"/>
              </a:rPr>
              <a:t>Apa itu </a:t>
            </a:r>
            <a:r>
              <a:rPr b="1" sz="3750" i="0" u="none">
                <a:solidFill>
                  <a:srgbClr val="38BDF8"/>
                </a:solidFill>
                <a:latin typeface="Poppins"/>
              </a:rPr>
              <a:t>Lua?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133725"/>
            <a:ext cx="9525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33825"/>
            <a:ext cx="9525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429125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62100"/>
            <a:ext cx="3492549" cy="4400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562100"/>
            <a:ext cx="3492549" cy="4400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562100"/>
            <a:ext cx="3492549" cy="4400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6267450"/>
            <a:ext cx="11049000" cy="352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419850"/>
            <a:ext cx="309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 Medium"/>
              </a:rPr>
              <a:t>KRISTIAN REFORMIS ALL RIGHTS RESERVED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2350" y="6419850"/>
            <a:ext cx="438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"/>
              </a:rPr>
              <a:t>Slide 4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1905000"/>
            <a:ext cx="2901999" cy="723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6775" y="2867025"/>
            <a:ext cx="3047099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E2E8F0"/>
                </a:solidFill>
                <a:latin typeface="Poppins SemiBold"/>
              </a:rPr>
              <a:t>Sangat Ringan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3486150"/>
            <a:ext cx="2901999" cy="213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Ukuran interpreter (mesin penerjemah) Lua sangat kecil, biasanya hanya memakan memori sekitar 300KB. Sangat ideal untuk perangkat dengan memori terbatas.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1905000"/>
            <a:ext cx="2901999" cy="723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45074" y="2867025"/>
            <a:ext cx="3047099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E2E8F0"/>
                </a:solidFill>
                <a:latin typeface="Poppins SemiBold"/>
              </a:rPr>
              <a:t>Eksekusi Cepat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074" y="3486150"/>
            <a:ext cx="290199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Dibandingkan bahasa skrip dinamis lainnya (seperti Python atau Ruby), Lua dikenal sebagai salah satu yang tercepat berkat arsitektur mesin virtualnya.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3374" y="1905000"/>
            <a:ext cx="2901999" cy="723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23374" y="2867025"/>
            <a:ext cx="3047099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E2E8F0"/>
                </a:solidFill>
                <a:latin typeface="Poppins SemiBold"/>
              </a:rPr>
              <a:t>Embeddable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3374" y="3486150"/>
            <a:ext cx="2901999" cy="213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Lua dirancang khusus sebagai "lem" (glue language). Mudah diintegrasikan ke dalam program besar yang ditulis menggunakan C/C++ atau Java.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2009775"/>
            <a:ext cx="476250" cy="4762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5074" y="2009775"/>
            <a:ext cx="419100" cy="476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3374" y="2009775"/>
            <a:ext cx="476250" cy="4762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F8FAFC"/>
                </a:solidFill>
                <a:latin typeface="Poppins"/>
              </a:rPr>
              <a:t>Karakteristik </a:t>
            </a:r>
            <a:r>
              <a:rPr b="1" sz="3750" i="0" u="none">
                <a:solidFill>
                  <a:srgbClr val="38BDF8"/>
                </a:solidFill>
                <a:latin typeface="Poppins"/>
              </a:rPr>
              <a:t>Utama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267450"/>
            <a:ext cx="11049000" cy="352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75760" y="2622202"/>
            <a:ext cx="384048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8BDF8"/>
                </a:solidFill>
                <a:latin typeface="Poppins"/>
              </a:rPr>
              <a:t>Sintaks Dasar</a:t>
            </a:r>
            <a:r>
              <a:rPr b="1" sz="1800" i="0" u="none">
                <a:solidFill>
                  <a:srgbClr val="F8FAFC"/>
                </a:solidFill>
                <a:latin typeface="Poppins"/>
              </a:rPr>
              <a:t> &amp; Pemrograman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524500" y="3241327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4887" y="3584227"/>
            <a:ext cx="1018222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94A3B8"/>
                </a:solidFill>
                <a:latin typeface="Poppins Light"/>
              </a:rPr>
              <a:t>Memahami cara kerja variabel, struktur kontrol, fungsi, dan tabel di dalam ekosistem Lua.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419850"/>
            <a:ext cx="309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 Medium"/>
              </a:rPr>
              <a:t>KRISTIAN REFORMIS ALL RIGHTS RESERVED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850"/>
            <a:ext cx="4191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"/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71600"/>
            <a:ext cx="5334000" cy="4781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71600"/>
            <a:ext cx="5334000" cy="4781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7025" y="3386137"/>
            <a:ext cx="4552950" cy="1409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6267450"/>
            <a:ext cx="11049000" cy="352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419850"/>
            <a:ext cx="309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 Medium"/>
              </a:rPr>
              <a:t>KRISTIAN REFORMIS ALL RIGHTS RESERVED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91875" y="6419850"/>
            <a:ext cx="428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"/>
              </a:rPr>
              <a:t>Slide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1762125"/>
            <a:ext cx="478059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8FAFC"/>
                </a:solidFill>
                <a:latin typeface="Poppins SemiBold"/>
              </a:rPr>
              <a:t>Tipe Data Dinamis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2419350"/>
            <a:ext cx="45529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Di Lua, Anda tidak perlu mendeklarasikan tipe data variabel (seperti int, string). Tipe data ditentukan otomatis berdasarkan nilainya.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728912"/>
            <a:ext cx="478059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8FAFC"/>
                </a:solidFill>
                <a:latin typeface="Poppins SemiBold"/>
              </a:rPr>
              <a:t>Contoh Kode: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7775" y="3476625"/>
            <a:ext cx="4267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Poppins"/>
              </a:rPr>
              <a:t>Nil: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 Merepresentasikan ketiadaan nilai (null).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7775" y="4276725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Poppins"/>
              </a:rPr>
              <a:t>Boolean: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 </a:t>
            </a:r>
            <a:r>
              <a:rPr b="0" sz="1500" i="0" u="none">
                <a:solidFill>
                  <a:srgbClr val="C678DD"/>
                </a:solidFill>
                <a:latin typeface="Poppins"/>
              </a:rPr>
              <a:t>true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 atau </a:t>
            </a:r>
            <a:r>
              <a:rPr b="0" sz="1500" i="0" u="none">
                <a:solidFill>
                  <a:srgbClr val="C678DD"/>
                </a:solidFill>
                <a:latin typeface="Poppins"/>
              </a:rPr>
              <a:t>false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7775" y="4772025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Poppins"/>
              </a:rPr>
              <a:t>Number: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 Angka bulat atau desimal (float).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7775" y="5267325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Poppins"/>
              </a:rPr>
              <a:t>String: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 Teks.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4675" y="3643312"/>
            <a:ext cx="2571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5C6370"/>
                </a:solidFill>
                <a:latin typeface="Fira Code"/>
              </a:rPr>
              <a:t>-- Mendeklarasikan variabel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91675" y="3643312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678DD"/>
                </a:solidFill>
                <a:latin typeface="Fira Code"/>
              </a:rPr>
              <a:t>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4675" y="3871912"/>
            <a:ext cx="1047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8C379"/>
                </a:solidFill>
                <a:latin typeface="Fira Code"/>
              </a:rPr>
              <a:t>"Kelas XII"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7675" y="3871912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678DD"/>
                </a:solidFill>
                <a:latin typeface="Fira Code"/>
              </a:rPr>
              <a:t>local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5925" y="3871912"/>
            <a:ext cx="190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19A66"/>
                </a:solidFill>
                <a:latin typeface="Fira Code"/>
              </a:rPr>
              <a:t>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91675" y="3871912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678DD"/>
                </a:solidFill>
                <a:latin typeface="Fira Code"/>
              </a:rPr>
              <a:t>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5175" y="4100512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678DD"/>
                </a:solidFill>
                <a:latin typeface="Fira Code"/>
              </a:rPr>
              <a:t>true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1425" y="4100512"/>
            <a:ext cx="2000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5C6370"/>
                </a:solidFill>
                <a:latin typeface="Fira Code"/>
              </a:rPr>
              <a:t>-- Menampilkan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6925" y="4100512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1AFEF"/>
                </a:solidFill>
                <a:latin typeface="Fira Code"/>
              </a:rPr>
              <a:t>print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4675" y="4100512"/>
            <a:ext cx="39052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8C379"/>
                </a:solidFill>
                <a:latin typeface="Fira Code"/>
              </a:rPr>
              <a:t>"Halo, 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5175" y="4329112"/>
            <a:ext cx="190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56B6C2"/>
                </a:solidFill>
                <a:latin typeface="Fira Code"/>
              </a:rPr>
              <a:t>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2425" y="4329112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1AFEF"/>
                </a:solidFill>
                <a:latin typeface="Fira Code"/>
              </a:rPr>
              <a:t>print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3925" y="4329112"/>
            <a:ext cx="762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8C379"/>
                </a:solidFill>
                <a:latin typeface="Fira Code"/>
              </a:rPr>
              <a:t>"Umur: 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" y="4191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F8FAFC"/>
                </a:solidFill>
                <a:latin typeface="Poppins"/>
              </a:rPr>
              <a:t>1. Variabel &amp; </a:t>
            </a:r>
            <a:r>
              <a:rPr b="1" sz="3750" i="0" u="none">
                <a:solidFill>
                  <a:srgbClr val="38BDF8"/>
                </a:solidFill>
                <a:latin typeface="Poppins"/>
              </a:rPr>
              <a:t>Tipe Data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3495675"/>
            <a:ext cx="95250" cy="2000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4295775"/>
            <a:ext cx="95250" cy="2000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4791075"/>
            <a:ext cx="95250" cy="2000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5286375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86000"/>
            <a:ext cx="5334000" cy="2952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86000"/>
            <a:ext cx="5334000" cy="2952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4086225"/>
            <a:ext cx="4552950" cy="76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025" y="4086225"/>
            <a:ext cx="455295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6267450"/>
            <a:ext cx="11049000" cy="3524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6419850"/>
            <a:ext cx="309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 Medium"/>
              </a:rPr>
              <a:t>KRISTIAN REFORMIS ALL RIGHTS RESERVED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91875" y="6419850"/>
            <a:ext cx="428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"/>
              </a:rPr>
              <a:t>Slide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2676525"/>
            <a:ext cx="478059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8FAFC"/>
                </a:solidFill>
                <a:latin typeface="Poppins SemiBold"/>
              </a:rPr>
              <a:t>Percabangan (If/Else)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333750"/>
            <a:ext cx="45529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Menggunakan blok </a:t>
            </a:r>
            <a:r>
              <a:rPr b="0" sz="1500" i="0" u="none">
                <a:solidFill>
                  <a:srgbClr val="C678DD"/>
                </a:solidFill>
                <a:latin typeface="Poppins"/>
              </a:rPr>
              <a:t>if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, </a:t>
            </a:r>
            <a:r>
              <a:rPr b="0" sz="1500" i="0" u="none">
                <a:solidFill>
                  <a:srgbClr val="C678DD"/>
                </a:solidFill>
                <a:latin typeface="Poppins"/>
              </a:rPr>
              <a:t>elseif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, </a:t>
            </a:r>
            <a:r>
              <a:rPr b="0" sz="1500" i="0" u="none">
                <a:solidFill>
                  <a:srgbClr val="C678DD"/>
                </a:solidFill>
                <a:latin typeface="Poppins"/>
              </a:rPr>
              <a:t>else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, dan selalu diakhiri dengan </a:t>
            </a:r>
            <a:r>
              <a:rPr b="0" sz="1500" i="0" u="none">
                <a:solidFill>
                  <a:srgbClr val="C678DD"/>
                </a:solidFill>
                <a:latin typeface="Poppins"/>
              </a:rPr>
              <a:t>end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2676525"/>
            <a:ext cx="478059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8FAFC"/>
                </a:solidFill>
                <a:latin typeface="Poppins SemiBold"/>
              </a:rPr>
              <a:t>Perulangan (Loops)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3333750"/>
            <a:ext cx="45529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Mendukung perulangan </a:t>
            </a:r>
            <a:r>
              <a:rPr b="0" sz="1500" i="0" u="none">
                <a:solidFill>
                  <a:srgbClr val="C678DD"/>
                </a:solidFill>
                <a:latin typeface="Poppins"/>
              </a:rPr>
              <a:t>for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, </a:t>
            </a:r>
            <a:r>
              <a:rPr b="0" sz="1500" i="0" u="none">
                <a:solidFill>
                  <a:srgbClr val="C678DD"/>
                </a:solidFill>
                <a:latin typeface="Poppins"/>
              </a:rPr>
              <a:t>while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, dan </a:t>
            </a:r>
            <a:r>
              <a:rPr b="0" sz="1500" i="0" u="none">
                <a:solidFill>
                  <a:srgbClr val="C678DD"/>
                </a:solidFill>
                <a:latin typeface="Poppins"/>
              </a:rPr>
              <a:t>repeat-until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4248150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678DD"/>
                </a:solidFill>
                <a:latin typeface="Fira Code"/>
              </a:rPr>
              <a:t>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7925" y="4248150"/>
            <a:ext cx="190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19A66"/>
                </a:solidFill>
                <a:latin typeface="Fira Code"/>
              </a:rPr>
              <a:t>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3675" y="4248150"/>
            <a:ext cx="190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678DD"/>
                </a:solidFill>
                <a:latin typeface="Fira Code"/>
              </a:rPr>
              <a:t>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6675" y="4248150"/>
            <a:ext cx="190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19A66"/>
                </a:solidFill>
                <a:latin typeface="Fira Code"/>
              </a:rPr>
              <a:t>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2425" y="4248150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678DD"/>
                </a:solidFill>
                <a:latin typeface="Fira Code"/>
              </a:rPr>
              <a:t>then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4425" y="4476750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1AFEF"/>
                </a:solidFill>
                <a:latin typeface="Fira Code"/>
              </a:rPr>
              <a:t>print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85925" y="4476750"/>
            <a:ext cx="857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8C379"/>
                </a:solidFill>
                <a:latin typeface="Fira Code"/>
              </a:rPr>
              <a:t>"Tuntas!"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33675" y="4476750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678DD"/>
                </a:solidFill>
                <a:latin typeface="Fira Code"/>
              </a:rPr>
              <a:t>else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9925" y="4476750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1AFEF"/>
                </a:solidFill>
                <a:latin typeface="Fira Code"/>
              </a:rPr>
              <a:t>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1425" y="4476750"/>
            <a:ext cx="952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8C379"/>
                </a:solidFill>
                <a:latin typeface="Fira Code"/>
              </a:rPr>
              <a:t>"Remedial"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24425" y="4476750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678DD"/>
                </a:solidFill>
                <a:latin typeface="Fira Code"/>
              </a:rPr>
              <a:t>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9425" y="4248150"/>
            <a:ext cx="2571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5C6370"/>
                </a:solidFill>
                <a:latin typeface="Fira Code"/>
              </a:rPr>
              <a:t>-- Loop for dari 1 sampai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6425" y="4248150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678DD"/>
                </a:solidFill>
                <a:latin typeface="Fira Code"/>
              </a:rPr>
              <a:t>for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58425" y="4248150"/>
            <a:ext cx="95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19A66"/>
                </a:solidFill>
                <a:latin typeface="Fira Code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44175" y="4248150"/>
            <a:ext cx="95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19A66"/>
                </a:solidFill>
                <a:latin typeface="Fira Code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34675" y="4248150"/>
            <a:ext cx="190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678DD"/>
                </a:solidFill>
                <a:latin typeface="Fira Code"/>
              </a:rPr>
              <a:t>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9425" y="4476750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1AFEF"/>
                </a:solidFill>
                <a:latin typeface="Fira Code"/>
              </a:rPr>
              <a:t>print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0925" y="4476750"/>
            <a:ext cx="1238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8C379"/>
                </a:solidFill>
                <a:latin typeface="Fira Code"/>
              </a:rPr>
              <a:t>"Iterasi ke-"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5425" y="4476750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678DD"/>
                </a:solidFill>
                <a:latin typeface="Fira Code"/>
              </a:rPr>
              <a:t>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F8FAFC"/>
                </a:solidFill>
                <a:latin typeface="Poppins"/>
              </a:rPr>
              <a:t>2. Struktur </a:t>
            </a:r>
            <a:r>
              <a:rPr b="1" sz="3750" i="0" u="none">
                <a:solidFill>
                  <a:srgbClr val="38BDF8"/>
                </a:solidFill>
                <a:latin typeface="Poppins"/>
              </a:rPr>
              <a:t>Kontrol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62100"/>
            <a:ext cx="5334000" cy="4400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562100"/>
            <a:ext cx="5334000" cy="4400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7025" y="3271837"/>
            <a:ext cx="4552950" cy="1638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6267450"/>
            <a:ext cx="11049000" cy="352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419850"/>
            <a:ext cx="309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 Medium"/>
              </a:rPr>
              <a:t>KRISTIAN REFORMIS ALL RIGHTS RESERVED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91875" y="6419850"/>
            <a:ext cx="428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"/>
              </a:rPr>
              <a:t>Slide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1952625"/>
            <a:ext cx="478059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8FAFC"/>
                </a:solidFill>
                <a:latin typeface="Poppins SemiBold"/>
              </a:rPr>
              <a:t>Satu Struktur untuk Semua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2609850"/>
            <a:ext cx="45529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Table adalah satu-satunya struktur data di Lua. Tidak ada array atau object class secara bawaan.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614612"/>
            <a:ext cx="478059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8FAFC"/>
                </a:solidFill>
                <a:latin typeface="Poppins SemiBold"/>
              </a:rPr>
              <a:t>Contoh Penggunaan: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7775" y="3667125"/>
            <a:ext cx="4267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Bisa bertindak sebagai </a:t>
            </a:r>
            <a:r>
              <a:rPr b="1" sz="1500" i="0" u="none">
                <a:solidFill>
                  <a:srgbClr val="CBD5E1"/>
                </a:solidFill>
                <a:latin typeface="Poppins"/>
              </a:rPr>
              <a:t>Array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 (list berurutan). Indeks array Lua dimulai dari </a:t>
            </a:r>
            <a:r>
              <a:rPr b="1" sz="1500" i="0" u="none">
                <a:solidFill>
                  <a:srgbClr val="CBD5E1"/>
                </a:solidFill>
                <a:latin typeface="Poppins"/>
              </a:rPr>
              <a:t>1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, bukan 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7775" y="4772025"/>
            <a:ext cx="4267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Bisa bertindak sebagai </a:t>
            </a:r>
            <a:r>
              <a:rPr b="1" sz="1500" i="0" u="none">
                <a:solidFill>
                  <a:srgbClr val="CBD5E1"/>
                </a:solidFill>
                <a:latin typeface="Poppins"/>
              </a:rPr>
              <a:t>Dictionary / Object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 (pasangan key-value).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4675" y="3529012"/>
            <a:ext cx="2095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5C6370"/>
                </a:solidFill>
                <a:latin typeface="Fira Code"/>
              </a:rPr>
              <a:t>-- Table sebagai Array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15425" y="3529012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678DD"/>
                </a:solidFill>
                <a:latin typeface="Fira Code"/>
              </a:rPr>
              <a:t>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9925" y="3757612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8C379"/>
                </a:solidFill>
                <a:latin typeface="Fira Code"/>
              </a:rPr>
              <a:t>"Apel"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1925" y="3757612"/>
            <a:ext cx="666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8C379"/>
                </a:solidFill>
                <a:latin typeface="Fira Code"/>
              </a:rPr>
              <a:t>"Jeruk"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9175" y="3757612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1AFEF"/>
                </a:solidFill>
                <a:latin typeface="Fira Code"/>
              </a:rPr>
              <a:t>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86925" y="3757612"/>
            <a:ext cx="95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19A66"/>
                </a:solidFill>
                <a:latin typeface="Fira Code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4675" y="3757612"/>
            <a:ext cx="33337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5C6370"/>
                </a:solidFill>
                <a:latin typeface="Fira Code"/>
              </a:rPr>
              <a:t>-- Output: Apel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2925" y="3986212"/>
            <a:ext cx="2571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5C6370"/>
                </a:solidFill>
                <a:latin typeface="Fira Code"/>
              </a:rPr>
              <a:t>-- Table sebagai Dictionary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4675" y="4214812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678DD"/>
                </a:solidFill>
                <a:latin typeface="Fira Code"/>
              </a:rPr>
              <a:t>local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5425" y="4214812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8C379"/>
                </a:solidFill>
                <a:latin typeface="Fira Code"/>
              </a:rPr>
              <a:t>"Budi"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9425" y="4214812"/>
            <a:ext cx="190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19A66"/>
                </a:solidFill>
                <a:latin typeface="Fira Code"/>
              </a:rP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5175" y="4443412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1AFEF"/>
                </a:solidFill>
                <a:latin typeface="Fira Code"/>
              </a:rPr>
              <a:t>print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9675" y="4443412"/>
            <a:ext cx="1428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5C6370"/>
                </a:solidFill>
                <a:latin typeface="Fira Code"/>
              </a:rPr>
              <a:t>-- Output: Budi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F8FAFC"/>
                </a:solidFill>
                <a:latin typeface="Poppins"/>
              </a:rPr>
              <a:t>3. Kekuatan Utama: </a:t>
            </a:r>
            <a:r>
              <a:rPr b="1" sz="3750" i="0" u="none">
                <a:solidFill>
                  <a:srgbClr val="38BDF8"/>
                </a:solidFill>
                <a:latin typeface="Poppins"/>
              </a:rPr>
              <a:t>Table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3686175"/>
            <a:ext cx="95250" cy="2000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4791075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19250"/>
            <a:ext cx="5334000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19250"/>
            <a:ext cx="5334000" cy="428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7025" y="3386137"/>
            <a:ext cx="4552950" cy="1409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6267450"/>
            <a:ext cx="11049000" cy="352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419850"/>
            <a:ext cx="309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 Medium"/>
              </a:rPr>
              <a:t>KRISTIAN REFORMIS ALL RIGHTS RESERVED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91875" y="6419850"/>
            <a:ext cx="428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"/>
              </a:rPr>
              <a:t>Slide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2009775"/>
            <a:ext cx="478059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8FAFC"/>
                </a:solidFill>
                <a:latin typeface="Poppins SemiBold"/>
              </a:rPr>
              <a:t>First-Class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2667000"/>
            <a:ext cx="45529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Dalam Lua, fungsi diperlakukan seperti variabel biasa (</a:t>
            </a:r>
            <a:r>
              <a:rPr b="0" sz="1500" i="1" u="none">
                <a:solidFill>
                  <a:srgbClr val="CBD5E1"/>
                </a:solidFill>
                <a:latin typeface="Poppins"/>
              </a:rPr>
              <a:t>First-Class Citizen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728912"/>
            <a:ext cx="478059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8FAFC"/>
                </a:solidFill>
                <a:latin typeface="Poppins SemiBold"/>
              </a:rPr>
              <a:t>Contoh Fungsi: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7775" y="3419475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Fungsi dapat disimpan dalam variabel.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7775" y="3914775"/>
            <a:ext cx="4267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Dapat dilempar sebagai argumen ke fungsi lain.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7775" y="4714875"/>
            <a:ext cx="4267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Dapat me-return lebih dari satu nilai sekaligus (</a:t>
            </a:r>
            <a:r>
              <a:rPr b="0" sz="1500" i="1" u="none">
                <a:solidFill>
                  <a:srgbClr val="CBD5E1"/>
                </a:solidFill>
                <a:latin typeface="Poppins"/>
              </a:rPr>
              <a:t>multiple returns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4675" y="3643312"/>
            <a:ext cx="1809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5C6370"/>
                </a:solidFill>
                <a:latin typeface="Fira Code"/>
              </a:rPr>
              <a:t>-- Deklarasi Fungsi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9675" y="3643312"/>
            <a:ext cx="762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678DD"/>
                </a:solidFill>
                <a:latin typeface="Fira Code"/>
              </a:rPr>
              <a:t>function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6925" y="3643312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1AFEF"/>
                </a:solidFill>
                <a:latin typeface="Fira Code"/>
              </a:rPr>
              <a:t>tambah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4675" y="3871912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678DD"/>
                </a:solidFill>
                <a:latin typeface="Fira Code"/>
              </a:rPr>
              <a:t>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81925" y="3871912"/>
            <a:ext cx="95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56B6C2"/>
                </a:solidFill>
                <a:latin typeface="Fira Code"/>
              </a:rP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2925" y="3871912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678DD"/>
                </a:solidFill>
                <a:latin typeface="Fira Code"/>
              </a:rPr>
              <a:t>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3925" y="3871912"/>
            <a:ext cx="1809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5C6370"/>
                </a:solidFill>
                <a:latin typeface="Fira Code"/>
              </a:rPr>
              <a:t>-- Memanggil Fungsi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48925" y="3871912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678DD"/>
                </a:solidFill>
                <a:latin typeface="Fira Code"/>
              </a:rPr>
              <a:t>local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6675" y="4100512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1AFEF"/>
                </a:solidFill>
                <a:latin typeface="Fira Code"/>
              </a:rPr>
              <a:t>tambah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3425" y="4100512"/>
            <a:ext cx="190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19A66"/>
                </a:solidFill>
                <a:latin typeface="Fira Code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4425" y="4100512"/>
            <a:ext cx="95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19A66"/>
                </a:solidFill>
                <a:latin typeface="Fira Code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0175" y="4100512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1AFEF"/>
                </a:solidFill>
                <a:latin typeface="Fira Code"/>
              </a:rPr>
              <a:t>print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1675" y="4100512"/>
            <a:ext cx="762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8C379"/>
                </a:solidFill>
                <a:latin typeface="Fira Code"/>
              </a:rPr>
              <a:t>"Hasil:"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F8FAFC"/>
                </a:solidFill>
                <a:latin typeface="Poppins"/>
              </a:rPr>
              <a:t>4. Penggunaan </a:t>
            </a:r>
            <a:r>
              <a:rPr b="1" sz="3750" i="0" u="none">
                <a:solidFill>
                  <a:srgbClr val="38BDF8"/>
                </a:solidFill>
                <a:latin typeface="Poppins"/>
              </a:rPr>
              <a:t>Fungsi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3438525"/>
            <a:ext cx="95250" cy="2000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3933825"/>
            <a:ext cx="95250" cy="2000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4733925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267450"/>
            <a:ext cx="24860250" cy="352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F8FAFC"/>
                </a:solidFill>
                <a:latin typeface="Poppins"/>
              </a:rPr>
              <a:t>Penerapan di </a:t>
            </a:r>
            <a:r>
              <a:rPr b="1" sz="3750" i="0" u="none">
                <a:solidFill>
                  <a:srgbClr val="38BDF8"/>
                </a:solidFill>
                <a:latin typeface="Poppins"/>
              </a:rPr>
              <a:t>Dunia Nyata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419850"/>
            <a:ext cx="309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 Medium"/>
              </a:rPr>
              <a:t>KRISTIAN REFORMIS ALL RIGHTS RESERVED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93525" y="6419850"/>
            <a:ext cx="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"/>
              </a:rPr>
              <a:t>Slide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286000"/>
            <a:ext cx="5286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Karena kecepatannya, Lua adalah "raja" di industri </a:t>
            </a:r>
            <a:r>
              <a:rPr b="1" sz="1500" i="0" u="none">
                <a:solidFill>
                  <a:srgbClr val="CBD5E1"/>
                </a:solidFill>
                <a:latin typeface="Poppins"/>
              </a:rPr>
              <a:t>Game Development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 dan sistem tersemat (IoT).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775" y="3086100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Poppi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086100"/>
            <a:ext cx="5286375" cy="609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Poppins"/>
              </a:rPr>
              <a:t>Roblox Studio: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 Jutaan game di Roblox dibuat secara eksklusif menggunakan Luau (turunan Lua).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775" y="3695700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Poppi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695700"/>
            <a:ext cx="5286375" cy="609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Poppins"/>
              </a:rPr>
              <a:t>World of Warcraft: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 Menggunakan Lua untuk sistem antarmuka (UI) dan Modding.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775" y="4305300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Poppi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305300"/>
            <a:ext cx="5286375" cy="609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Poppins"/>
              </a:rPr>
              <a:t>Mesin Game (Engines):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 CryEngine, LÖVE 2D, Corona SDK (Solar2D).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95587"/>
            <a:ext cx="5238750" cy="1466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267450"/>
            <a:ext cx="11049000" cy="352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6419850"/>
            <a:ext cx="309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 Medium"/>
              </a:rPr>
              <a:t>KRISTIAN REFORMIS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19850"/>
            <a:ext cx="4191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"/>
              </a:rPr>
              <a:t>Slide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357687"/>
            <a:ext cx="52387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950" i="0" u="none">
                <a:solidFill>
                  <a:srgbClr val="E2E8F0"/>
                </a:solidFill>
                <a:latin typeface="Poppins SemiBold"/>
              </a:rPr>
              <a:t>Bahasa, Banyak Peluang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0" y="2302371"/>
            <a:ext cx="5500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F8FAFC"/>
                </a:solidFill>
                <a:latin typeface="Poppins SemiBold"/>
              </a:rPr>
              <a:t>Mengapa Belajar Lua?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0" y="2902446"/>
            <a:ext cx="52387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Poppins"/>
              </a:rPr>
              <a:t>Sintaksnya sangat bersih dan mirip bahasa manusia (English-like), membuatnya sangat ramah bagi pemula.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0" y="4003178"/>
            <a:ext cx="523875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Menguasai konsep </a:t>
            </a:r>
            <a:r>
              <a:rPr b="0" sz="1500" i="1" u="none">
                <a:solidFill>
                  <a:srgbClr val="CBD5E1"/>
                </a:solidFill>
                <a:latin typeface="Poppins"/>
              </a:rPr>
              <a:t>Table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 dan skrip Lua tidak hanya membuka peluang di dunia rekayasa perangkat lunak, tetapi juga tiket emas untuk masuk ke industri kreatif </a:t>
            </a:r>
            <a:r>
              <a:rPr b="0" sz="1500" i="1" u="none">
                <a:solidFill>
                  <a:srgbClr val="CBD5E1"/>
                </a:solidFill>
                <a:latin typeface="Poppins"/>
              </a:rPr>
              <a:t>Game Development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F8FAFC"/>
                </a:solidFill>
                <a:latin typeface="Poppins"/>
              </a:rPr>
              <a:t>Kesimpulan </a:t>
            </a:r>
            <a:r>
              <a:rPr b="1" sz="3750" i="0" u="none">
                <a:solidFill>
                  <a:srgbClr val="38BDF8"/>
                </a:solidFill>
                <a:latin typeface="Poppins"/>
              </a:rPr>
              <a:t>Akhir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267450"/>
            <a:ext cx="11049000" cy="352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436465"/>
            <a:ext cx="116014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F8FAFC"/>
                </a:solidFill>
                <a:latin typeface="Poppins"/>
              </a:rPr>
              <a:t>Sesi </a:t>
            </a:r>
            <a:r>
              <a:rPr b="1" sz="6000" i="0" u="none">
                <a:solidFill>
                  <a:srgbClr val="38BDF8"/>
                </a:solidFill>
                <a:latin typeface="Poppins"/>
              </a:rPr>
              <a:t>Tanya Jawab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769965"/>
            <a:ext cx="110490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94A3B8"/>
                </a:solidFill>
                <a:latin typeface="Poppins Light"/>
              </a:rPr>
              <a:t>Ada yang ingin ditanyakan seputar Pemrograman Lua?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6419850"/>
            <a:ext cx="309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 Medium"/>
              </a:rPr>
              <a:t>KRISTIAN REFORMIS ALL RIGHTS RESERVED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63300" y="6419850"/>
            <a:ext cx="457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98236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7576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7576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3179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12524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oppins"/>
              </a:rPr>
              <a:t>https://media.craiyon.com/2025-07-10/HCckt6XcQyS597MyMqb3tA.webp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37095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oppi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oppins"/>
              </a:rPr>
              <a:t>www.craiyon.com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1656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391001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oppins"/>
              </a:rPr>
              <a:t>https://chickensoft.games/_next/image?url=%2Fblogs%2Fgame-architecture%2Fgame_engine.png&amp;w=3840&amp;q=75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15572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oppi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oppins"/>
              </a:rPr>
              <a:t>chickensoft.games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F8FAFC"/>
                </a:solidFill>
                <a:latin typeface="Poppi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